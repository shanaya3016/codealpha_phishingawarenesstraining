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80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66000" y="0"/>
            <a:ext cx="4826000" cy="4826000"/>
          </a:xfrm>
          <a:prstGeom prst="rect">
            <a:avLst/>
          </a:prstGeom>
        </p:spPr>
      </p:pic>
      <p:pic>
        <p:nvPicPr>
          <p:cNvPr id="3" name="Image 1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44000" y="1270000"/>
            <a:ext cx="1524000" cy="1524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149736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19C3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CODEALPHA · CYBER SECURITY INTERNSHIP · TASK 1</a:t>
            </a:r>
            <a:endParaRPr lang="en-US" sz="1400" dirty="0"/>
          </a:p>
        </p:txBody>
      </p:sp>
      <p:sp>
        <p:nvSpPr>
          <p:cNvPr id="5" name="Text 1"/>
          <p:cNvSpPr>
            <a:spLocks noGrp="1"/>
          </p:cNvSpPr>
          <p:nvPr>
            <p:ph type="title"/>
          </p:nvPr>
        </p:nvSpPr>
        <p:spPr>
          <a:xfrm>
            <a:off x="812800" y="1949450"/>
            <a:ext cx="10883392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Phishing</a:t>
            </a:r>
            <a:endParaRPr lang="en-US" sz="6000" dirty="0"/>
          </a:p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Awareness</a:t>
            </a:r>
            <a:endParaRPr lang="en-US" sz="6000" dirty="0"/>
          </a:p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812800" y="45529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 it. Stop it. Report it.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12800" y="511175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 Noor ul Aien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ADA80659-65EE-4440-BDB4-66404E7DF3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381"/>
    </mc:Choice>
    <mc:Fallback>
      <p:transition spd="slow" advTm="103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Recognizing Phishing Emails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65"/>
            <a:ext cx="3380284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4" name="Image 0" descr="C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1855440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249140"/>
            <a:ext cx="30042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Urgent tone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612330"/>
            <a:ext cx="300423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“Act in 24 hours or your account is closed.” Panic beats thinking.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05809" y="1623665"/>
            <a:ext cx="3380333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8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7584" y="1855440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7584" y="224914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Odd sender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637584" y="2612330"/>
            <a:ext cx="300428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name looks right, but the real address is slightly off.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995692" y="1623665"/>
            <a:ext cx="3380333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12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7467" y="1855440"/>
            <a:ext cx="304800" cy="304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7467" y="224914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greeting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227467" y="2612330"/>
            <a:ext cx="300428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“Dear customer” instead of your real name.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5975" y="3515916"/>
            <a:ext cx="3380284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16" name="Image 3" descr="Lin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" y="3747691"/>
            <a:ext cx="304800" cy="304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47750" y="4141391"/>
            <a:ext cx="30042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Suspicious links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047750" y="4504581"/>
            <a:ext cx="300423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 first. The visible text and real URL often differ.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405809" y="3515916"/>
            <a:ext cx="3380333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20" name="Image 4" descr="PaperPlan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37584" y="3747691"/>
            <a:ext cx="304800" cy="304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37584" y="4141391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Unexpected attachment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4637584" y="4504581"/>
            <a:ext cx="300428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Invoices, ZIPs or macros you never asked for.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7995692" y="3515916"/>
            <a:ext cx="3380333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24" name="Image 5" descr="Search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7467" y="3747691"/>
            <a:ext cx="304800" cy="3048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27467" y="4141391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 and odd asks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8227467" y="4504581"/>
            <a:ext cx="300428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Typos, gift cards, passwords or payment details.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CodeAlpha · Cyber Security Internship · Task 2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Spotting Fake Websites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90"/>
          <a:ext cx="10553700" cy="1651000"/>
        </p:xfrm>
        <a:graphic>
          <a:graphicData uri="http://schemas.openxmlformats.org/drawingml/2006/table">
            <a:tbl>
              <a:tblPr/>
              <a:tblGrid>
                <a:gridCol w="274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8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 site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Fake site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Trick used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paypal.com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paypa1.com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1 for letter 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amazon.com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amazon-secure-login.net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 brand, wrong domain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mybank.com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mybank.com.verify-id.xyz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1E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 name is only a subdomain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5975" y="3592165"/>
            <a:ext cx="3380284" cy="1682700"/>
          </a:xfrm>
          <a:prstGeom prst="roundRect">
            <a:avLst>
              <a:gd name="adj" fmla="val 7359"/>
            </a:avLst>
          </a:prstGeom>
          <a:solidFill>
            <a:srgbClr val="172A45"/>
          </a:solidFill>
          <a:ln w="6350">
            <a:solidFill>
              <a:srgbClr val="24406A"/>
            </a:solidFill>
            <a:prstDash val="solid"/>
          </a:ln>
        </p:spPr>
      </p:sp>
      <p:pic>
        <p:nvPicPr>
          <p:cNvPr id="5" name="Image 0" descr="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3823940"/>
            <a:ext cx="304800" cy="30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7750" y="4217640"/>
            <a:ext cx="30042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Padlock is not proof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47750" y="4580830"/>
            <a:ext cx="30042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Phishing sites can use HTTPS too.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405809" y="3592165"/>
            <a:ext cx="3380333" cy="1682700"/>
          </a:xfrm>
          <a:prstGeom prst="roundRect">
            <a:avLst>
              <a:gd name="adj" fmla="val 7359"/>
            </a:avLst>
          </a:prstGeom>
          <a:solidFill>
            <a:srgbClr val="172A45"/>
          </a:solidFill>
          <a:ln w="6350">
            <a:solidFill>
              <a:srgbClr val="24406A"/>
            </a:solidFill>
            <a:prstDash val="solid"/>
          </a:ln>
        </p:spPr>
      </p:sp>
      <p:pic>
        <p:nvPicPr>
          <p:cNvPr id="9" name="Image 1" descr="Glob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7584" y="3823940"/>
            <a:ext cx="304800" cy="304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37584" y="421764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domain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637584" y="4580830"/>
            <a:ext cx="300428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 before the first / decides who owns it.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995692" y="3592165"/>
            <a:ext cx="3380333" cy="1682700"/>
          </a:xfrm>
          <a:prstGeom prst="roundRect">
            <a:avLst>
              <a:gd name="adj" fmla="val 7359"/>
            </a:avLst>
          </a:prstGeom>
          <a:solidFill>
            <a:srgbClr val="172A45"/>
          </a:solidFill>
          <a:ln w="6350">
            <a:solidFill>
              <a:srgbClr val="24406A"/>
            </a:solidFill>
            <a:prstDash val="solid"/>
          </a:ln>
        </p:spPr>
      </p:sp>
      <p:pic>
        <p:nvPicPr>
          <p:cNvPr id="13" name="Image 2" descr="Ke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7467" y="3823940"/>
            <a:ext cx="304800" cy="304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7467" y="421764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it yourself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227467" y="4580830"/>
            <a:ext cx="300428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bookmarks, not links from emails.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CodeAlpha · Cyber Security Internship · Task 2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Engineering Tactics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9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Attackers hack people first, systems second.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212925"/>
            <a:ext cx="2482850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5" name="Image 0" descr="C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2444700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838400"/>
            <a:ext cx="207987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Urgency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7750" y="3201591"/>
            <a:ext cx="207987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“Do it now” removes time to think.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08375" y="2212925"/>
            <a:ext cx="2482850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9" name="Image 1" descr="Verified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40150" y="2444700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0150" y="2838400"/>
            <a:ext cx="207987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740150" y="3201591"/>
            <a:ext cx="207987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Pretending to be a boss, bank or IT team.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00775" y="2212925"/>
            <a:ext cx="2482850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13" name="Image 2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32550" y="2444700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32550" y="2838400"/>
            <a:ext cx="207987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32550" y="3201591"/>
            <a:ext cx="207987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 of lockout, fines or legal action.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893175" y="2212925"/>
            <a:ext cx="2482850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17" name="Image 3" descr="Sta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24950" y="2444700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24950" y="2838400"/>
            <a:ext cx="224790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Greed and curiosity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9124950" y="3201591"/>
            <a:ext cx="207987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Prizes, refunds and “you won’t believe this”.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CodeAlpha · Cyber Security Internship · Task 2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Examples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65"/>
            <a:ext cx="3380284" cy="2569121"/>
          </a:xfrm>
          <a:prstGeom prst="roundRect">
            <a:avLst>
              <a:gd name="adj" fmla="val 4820"/>
            </a:avLst>
          </a:prstGeom>
          <a:solidFill>
            <a:srgbClr val="172A45"/>
          </a:solidFill>
          <a:ln w="6350">
            <a:solidFill>
              <a:srgbClr val="2440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840"/>
            <a:ext cx="295191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$100M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3150" y="2622500"/>
            <a:ext cx="2951912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and Facebook, 2013–2015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3150" y="3242221"/>
            <a:ext cx="295191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fake vendor sent invoices. Both companies paid over $100 million before the fraud was caught.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09" y="1623665"/>
            <a:ext cx="3380333" cy="2569121"/>
          </a:xfrm>
          <a:prstGeom prst="roundRect">
            <a:avLst>
              <a:gd name="adj" fmla="val 4820"/>
            </a:avLst>
          </a:prstGeom>
          <a:solidFill>
            <a:srgbClr val="172A45"/>
          </a:solidFill>
          <a:ln w="6350">
            <a:solidFill>
              <a:srgbClr val="2440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1880840"/>
            <a:ext cx="295196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2984" y="2622500"/>
            <a:ext cx="295196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Twitter hack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2984" y="2983161"/>
            <a:ext cx="295196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Attackers phoned employees and tricked them into giving access. High-profile accounts promoted a Bitcoin scam.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692" y="1623665"/>
            <a:ext cx="3380333" cy="2569121"/>
          </a:xfrm>
          <a:prstGeom prst="roundRect">
            <a:avLst>
              <a:gd name="adj" fmla="val 4820"/>
            </a:avLst>
          </a:prstGeom>
          <a:solidFill>
            <a:srgbClr val="172A45"/>
          </a:solidFill>
          <a:ln w="6350">
            <a:solidFill>
              <a:srgbClr val="2440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2867" y="1880840"/>
            <a:ext cx="295196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52867" y="2622500"/>
            <a:ext cx="295196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Podesta email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52867" y="2983161"/>
            <a:ext cx="295196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fake “change your password” alert led to stolen emails of a US campaign chairman.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CodeAlpha · Cyber Security Internship · Task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to Stay Safe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65"/>
            <a:ext cx="3380284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4" name="Image 0" descr="C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1855440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249140"/>
            <a:ext cx="30042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 and verify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612330"/>
            <a:ext cx="300423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the sender using a known number.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05809" y="1623665"/>
            <a:ext cx="3380333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8" name="Image 1" descr="Lin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7584" y="1855440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7584" y="224914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 before you click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637584" y="2612330"/>
            <a:ext cx="30042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real URL first.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995692" y="1623665"/>
            <a:ext cx="3380333" cy="1682700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12" name="Image 2" descr="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7467" y="1855440"/>
            <a:ext cx="304800" cy="304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7467" y="2249140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on MFA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227467" y="2612330"/>
            <a:ext cx="300428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stolen password alone is not enough.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15975" y="3515916"/>
            <a:ext cx="3380284" cy="1451570"/>
          </a:xfrm>
          <a:prstGeom prst="roundRect">
            <a:avLst>
              <a:gd name="adj" fmla="val 8530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16" name="Image 3" descr="Ke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" y="3747691"/>
            <a:ext cx="304800" cy="304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47750" y="4141391"/>
            <a:ext cx="30042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password manager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047750" y="4504581"/>
            <a:ext cx="30042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passwords everywhere.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405809" y="3515916"/>
            <a:ext cx="3380333" cy="1451570"/>
          </a:xfrm>
          <a:prstGeom prst="roundRect">
            <a:avLst>
              <a:gd name="adj" fmla="val 8530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20" name="Image 4" descr="Tool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37584" y="3747691"/>
            <a:ext cx="304800" cy="304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37584" y="4141391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software updated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4637584" y="4504581"/>
            <a:ext cx="30042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Patches close known holes.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7995692" y="3515916"/>
            <a:ext cx="3380333" cy="1451570"/>
          </a:xfrm>
          <a:prstGeom prst="roundRect">
            <a:avLst>
              <a:gd name="adj" fmla="val 8530"/>
            </a:avLst>
          </a:prstGeom>
          <a:solidFill>
            <a:srgbClr val="FFFFFF"/>
          </a:solidFill>
          <a:ln w="6350">
            <a:solidFill>
              <a:srgbClr val="E2DCCF"/>
            </a:solidFill>
            <a:prstDash val="solid"/>
          </a:ln>
        </p:spPr>
      </p:sp>
      <p:pic>
        <p:nvPicPr>
          <p:cNvPr id="24" name="Image 5" descr="ThumbsUp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7467" y="3747691"/>
            <a:ext cx="304800" cy="3048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27467" y="4141391"/>
            <a:ext cx="300428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it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8227467" y="4504581"/>
            <a:ext cx="30042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 IT or security, then delete.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CodeAlpha · Cyber Security Internship · Task 2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9C3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 Time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65"/>
            <a:ext cx="3380284" cy="1592560"/>
          </a:xfrm>
          <a:prstGeom prst="roundRect">
            <a:avLst>
              <a:gd name="adj" fmla="val 7775"/>
            </a:avLst>
          </a:prstGeom>
          <a:solidFill>
            <a:srgbClr val="172A45"/>
          </a:solidFill>
          <a:ln w="6350">
            <a:solidFill>
              <a:srgbClr val="2440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55440"/>
            <a:ext cx="30042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9C3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750" y="2241500"/>
            <a:ext cx="300423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from support@paypa1-security.com says your account locks in 1 hour. Phishing?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623665"/>
            <a:ext cx="3380333" cy="1592560"/>
          </a:xfrm>
          <a:prstGeom prst="roundRect">
            <a:avLst>
              <a:gd name="adj" fmla="val 7775"/>
            </a:avLst>
          </a:prstGeom>
          <a:solidFill>
            <a:srgbClr val="172A45"/>
          </a:solidFill>
          <a:ln w="6350">
            <a:solidFill>
              <a:srgbClr val="2440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7584" y="1855440"/>
            <a:ext cx="300428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9C3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7584" y="2241500"/>
            <a:ext cx="300428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site shows the HTTPS padlock. Does that mean it is safe?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92" y="1623665"/>
            <a:ext cx="3380333" cy="1592560"/>
          </a:xfrm>
          <a:prstGeom prst="roundRect">
            <a:avLst>
              <a:gd name="adj" fmla="val 7775"/>
            </a:avLst>
          </a:prstGeom>
          <a:solidFill>
            <a:srgbClr val="172A45"/>
          </a:solidFill>
          <a:ln w="6350">
            <a:solidFill>
              <a:srgbClr val="2440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7467" y="1855440"/>
            <a:ext cx="300428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9C3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7467" y="2241500"/>
            <a:ext cx="300428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“colleague” urgently asks you to buy gift cards. What now?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CodeAlpha · Cyber Security Internship · Task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4191000"/>
            <a:ext cx="2984500" cy="817860"/>
          </a:xfrm>
          <a:prstGeom prst="roundRect">
            <a:avLst>
              <a:gd name="adj" fmla="val 15528"/>
            </a:avLst>
          </a:prstGeom>
          <a:solidFill>
            <a:srgbClr val="19C3A6"/>
          </a:solidFill>
          <a:ln/>
        </p:spPr>
        <p:txBody>
          <a:bodyPr wrap="square" lIns="140603" tIns="140603" rIns="61736" bIns="115203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Yes. Look-alike domain plus fake urgency.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00550" y="4191000"/>
            <a:ext cx="2984500" cy="817860"/>
          </a:xfrm>
          <a:prstGeom prst="roundRect">
            <a:avLst>
              <a:gd name="adj" fmla="val 15528"/>
            </a:avLst>
          </a:prstGeom>
          <a:solidFill>
            <a:srgbClr val="19C3A6"/>
          </a:solidFill>
          <a:ln/>
        </p:spPr>
        <p:txBody>
          <a:bodyPr wrap="square" lIns="140603" tIns="140603" rIns="61736" bIns="115203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No. It only means the connection is encrypted.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88300" y="4191000"/>
            <a:ext cx="2984500" cy="817860"/>
          </a:xfrm>
          <a:prstGeom prst="roundRect">
            <a:avLst>
              <a:gd name="adj" fmla="val 15528"/>
            </a:avLst>
          </a:prstGeom>
          <a:solidFill>
            <a:srgbClr val="19C3A6"/>
          </a:solidFill>
          <a:ln/>
        </p:spPr>
        <p:txBody>
          <a:bodyPr wrap="square" lIns="140603" tIns="140603" rIns="61736" bIns="115203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by phone on a known number, then report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shing Awareness Training">
  <a:themeElements>
    <a:clrScheme name="Phishing Awareness Training">
      <a:dk1>
        <a:srgbClr val="0F1B2D"/>
      </a:dk1>
      <a:lt1>
        <a:srgbClr val="F4F1EA"/>
      </a:lt1>
      <a:dk2>
        <a:srgbClr val="263040"/>
      </a:dk2>
      <a:lt2>
        <a:srgbClr val="BBBCBB"/>
      </a:lt2>
      <a:accent1>
        <a:srgbClr val="9FB0C8"/>
      </a:accent1>
      <a:accent2>
        <a:srgbClr val="19C3A6"/>
      </a:accent2>
      <a:accent3>
        <a:srgbClr val="FF6B4A"/>
      </a:accent3>
      <a:accent4>
        <a:srgbClr val="5F6B7A"/>
      </a:accent4>
      <a:accent5>
        <a:srgbClr val="9AA0A6"/>
      </a:accent5>
      <a:accent6>
        <a:srgbClr val="989B9E"/>
      </a:accent6>
      <a:hlink>
        <a:srgbClr val="0563C1"/>
      </a:hlink>
      <a:folHlink>
        <a:srgbClr val="954F72"/>
      </a:folHlink>
    </a:clrScheme>
    <a:fontScheme name="Phishing Awareness Training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538</Words>
  <Application>Microsoft Office PowerPoint</Application>
  <PresentationFormat>Widescreen</PresentationFormat>
  <Paragraphs>100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Phishing Awareness Training</vt:lpstr>
      <vt:lpstr>Phishing Awareness Training</vt:lpstr>
      <vt:lpstr>Recognizing Phishing Emails</vt:lpstr>
      <vt:lpstr>Spotting Fake Websites</vt:lpstr>
      <vt:lpstr>Social Engineering Tactics</vt:lpstr>
      <vt:lpstr>Real-World Examples</vt:lpstr>
      <vt:lpstr>Best Practices to Stay Safe</vt:lpstr>
      <vt:lpstr>Quiz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/>
  <dc:creator/>
  <cp:lastModifiedBy>noor  ul aien shabbir</cp:lastModifiedBy>
  <cp:revision>3</cp:revision>
  <dcterms:created xsi:type="dcterms:W3CDTF">2026-10-14T16:22:24Z</dcterms:created>
  <dcterms:modified xsi:type="dcterms:W3CDTF">2026-10-15T14:22:02Z</dcterms:modified>
</cp:coreProperties>
</file>